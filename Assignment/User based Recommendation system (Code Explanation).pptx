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1E"/>
    <a:srgbClr val="00602B"/>
    <a:srgbClr val="9A0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660"/>
  </p:normalViewPr>
  <p:slideViewPr>
    <p:cSldViewPr>
      <p:cViewPr varScale="1">
        <p:scale>
          <a:sx n="87" d="100"/>
          <a:sy n="87" d="100"/>
        </p:scale>
        <p:origin x="-114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4412" y="-16761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b="1" dirty="0"/>
              <a:t>Hope Artificial Intelligence </a:t>
            </a:r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827584" y="670955"/>
            <a:ext cx="7498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5"/>
                </a:solidFill>
              </a:rPr>
              <a:t>Recommendation System – User based code explanation</a:t>
            </a:r>
            <a:endParaRPr lang="en-IN" sz="2000" b="1" u="sng" dirty="0">
              <a:solidFill>
                <a:schemeClr val="accent5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42053" y="1181424"/>
            <a:ext cx="8280920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Step 1: Calculate user </a:t>
            </a:r>
            <a:r>
              <a:rPr lang="en-IN" sz="1600" b="1" dirty="0" smtClean="0"/>
              <a:t>mean</a:t>
            </a:r>
          </a:p>
          <a:p>
            <a:endParaRPr lang="en-IN" sz="1600" b="1" dirty="0"/>
          </a:p>
          <a:p>
            <a:r>
              <a:rPr lang="en-IN" sz="1400" dirty="0" err="1">
                <a:solidFill>
                  <a:srgbClr val="00421E"/>
                </a:solidFill>
              </a:rPr>
              <a:t>mean_user_rating</a:t>
            </a:r>
            <a:r>
              <a:rPr lang="en-IN" sz="1400" dirty="0">
                <a:solidFill>
                  <a:srgbClr val="00421E"/>
                </a:solidFill>
              </a:rPr>
              <a:t> = </a:t>
            </a:r>
            <a:r>
              <a:rPr lang="en-IN" sz="1400" dirty="0" err="1">
                <a:solidFill>
                  <a:srgbClr val="00421E"/>
                </a:solidFill>
              </a:rPr>
              <a:t>ratings.mean</a:t>
            </a:r>
            <a:r>
              <a:rPr lang="en-IN" sz="1400" dirty="0">
                <a:solidFill>
                  <a:srgbClr val="00421E"/>
                </a:solidFill>
              </a:rPr>
              <a:t>(axis=1).</a:t>
            </a:r>
            <a:r>
              <a:rPr lang="en-IN" sz="1400" dirty="0" err="1">
                <a:solidFill>
                  <a:srgbClr val="00421E"/>
                </a:solidFill>
              </a:rPr>
              <a:t>to_numpy</a:t>
            </a:r>
            <a:r>
              <a:rPr lang="en-IN" sz="1400" dirty="0" smtClean="0">
                <a:solidFill>
                  <a:srgbClr val="00421E"/>
                </a:solidFill>
              </a:rPr>
              <a:t>()</a:t>
            </a:r>
          </a:p>
          <a:p>
            <a:endParaRPr lang="en-IN" sz="14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Computes average rating for each user (row-wise)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axis=1 → across columns (items)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.</a:t>
            </a:r>
            <a:r>
              <a:rPr lang="en-IN" sz="1400" dirty="0" err="1"/>
              <a:t>to_numpy</a:t>
            </a:r>
            <a:r>
              <a:rPr lang="en-IN" sz="1400" dirty="0"/>
              <a:t>() → converts Pandas Series to </a:t>
            </a:r>
            <a:r>
              <a:rPr lang="en-IN" sz="1400" dirty="0" err="1"/>
              <a:t>NumPy</a:t>
            </a:r>
            <a:r>
              <a:rPr lang="en-IN" sz="1400" dirty="0"/>
              <a:t> array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This captures each user’s </a:t>
            </a:r>
            <a:r>
              <a:rPr lang="en-IN" sz="1400" b="1" dirty="0"/>
              <a:t>rating </a:t>
            </a:r>
            <a:r>
              <a:rPr lang="en-IN" sz="1400" b="1" dirty="0" err="1"/>
              <a:t>behavior</a:t>
            </a:r>
            <a:r>
              <a:rPr lang="en-IN" sz="1400" b="1" dirty="0"/>
              <a:t> (bias)</a:t>
            </a:r>
            <a:endParaRPr lang="en-IN" sz="1400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96685" y="3125579"/>
            <a:ext cx="8275105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Step 2: Normalize </a:t>
            </a:r>
            <a:r>
              <a:rPr lang="en-IN" sz="1600" b="1" dirty="0" smtClean="0"/>
              <a:t>ratings</a:t>
            </a:r>
          </a:p>
          <a:p>
            <a:endParaRPr lang="en-IN" sz="1400" b="1" dirty="0"/>
          </a:p>
          <a:p>
            <a:r>
              <a:rPr lang="en-IN" sz="1400" dirty="0" err="1">
                <a:solidFill>
                  <a:srgbClr val="00421E"/>
                </a:solidFill>
              </a:rPr>
              <a:t>ratings_diff</a:t>
            </a:r>
            <a:r>
              <a:rPr lang="en-IN" sz="1400" dirty="0">
                <a:solidFill>
                  <a:srgbClr val="00421E"/>
                </a:solidFill>
              </a:rPr>
              <a:t> = </a:t>
            </a:r>
            <a:r>
              <a:rPr lang="en-IN" sz="1400" dirty="0" err="1">
                <a:solidFill>
                  <a:srgbClr val="00421E"/>
                </a:solidFill>
              </a:rPr>
              <a:t>ratings.to_numpy</a:t>
            </a:r>
            <a:r>
              <a:rPr lang="en-IN" sz="1400" dirty="0">
                <a:solidFill>
                  <a:srgbClr val="00421E"/>
                </a:solidFill>
              </a:rPr>
              <a:t>() - </a:t>
            </a:r>
            <a:r>
              <a:rPr lang="en-IN" sz="1400" dirty="0" err="1">
                <a:solidFill>
                  <a:srgbClr val="00421E"/>
                </a:solidFill>
              </a:rPr>
              <a:t>mean_user_rating</a:t>
            </a:r>
            <a:r>
              <a:rPr lang="en-IN" sz="1400" dirty="0">
                <a:solidFill>
                  <a:srgbClr val="00421E"/>
                </a:solidFill>
              </a:rPr>
              <a:t>[:, </a:t>
            </a:r>
            <a:r>
              <a:rPr lang="en-IN" sz="1400" dirty="0" err="1">
                <a:solidFill>
                  <a:srgbClr val="00421E"/>
                </a:solidFill>
              </a:rPr>
              <a:t>np.newaxis</a:t>
            </a:r>
            <a:r>
              <a:rPr lang="en-IN" sz="1400" dirty="0" smtClean="0">
                <a:solidFill>
                  <a:srgbClr val="00421E"/>
                </a:solidFill>
              </a:rPr>
              <a:t>]</a:t>
            </a:r>
          </a:p>
          <a:p>
            <a:endParaRPr lang="en-IN" sz="14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Converts ratings to </a:t>
            </a:r>
            <a:r>
              <a:rPr lang="en-IN" sz="1400" dirty="0" err="1"/>
              <a:t>NumPy</a:t>
            </a:r>
            <a:r>
              <a:rPr lang="en-IN" sz="1400" dirty="0"/>
              <a:t> array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Subtracts each user’s mean from their ratings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 err="1"/>
              <a:t>np.newaxis</a:t>
            </a:r>
            <a:r>
              <a:rPr lang="en-IN" sz="1400" dirty="0"/>
              <a:t> reshapes the mean to match matrix dimensions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Result: how much each rating differs from the user’s 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870" y="5157192"/>
            <a:ext cx="82751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Step 3: Apply similarity (core logic</a:t>
            </a:r>
            <a:r>
              <a:rPr lang="en-US" sz="1600" b="1" dirty="0" smtClean="0"/>
              <a:t>)</a:t>
            </a:r>
          </a:p>
          <a:p>
            <a:endParaRPr lang="en-US" sz="1400" b="1" dirty="0"/>
          </a:p>
          <a:p>
            <a:r>
              <a:rPr lang="en-US" sz="1400" dirty="0">
                <a:solidFill>
                  <a:srgbClr val="00421E"/>
                </a:solidFill>
              </a:rPr>
              <a:t>similarity.dot(</a:t>
            </a:r>
            <a:r>
              <a:rPr lang="en-US" sz="1400" dirty="0" err="1">
                <a:solidFill>
                  <a:srgbClr val="00421E"/>
                </a:solidFill>
              </a:rPr>
              <a:t>ratings_diff</a:t>
            </a:r>
            <a:r>
              <a:rPr lang="en-US" sz="1400" dirty="0" smtClean="0">
                <a:solidFill>
                  <a:srgbClr val="00421E"/>
                </a:solidFill>
              </a:rPr>
              <a:t>)</a:t>
            </a:r>
          </a:p>
          <a:p>
            <a:endParaRPr lang="en-US" sz="14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Multiplies similarity matrix with normalized ratings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Combines ratings from </a:t>
            </a:r>
            <a:r>
              <a:rPr lang="en-US" sz="1400" b="1" dirty="0"/>
              <a:t>similar users</a:t>
            </a:r>
            <a:r>
              <a:rPr lang="en-US" sz="1400" dirty="0"/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Higher similarity → more influence </a:t>
            </a:r>
          </a:p>
        </p:txBody>
      </p:sp>
    </p:spTree>
    <p:extLst>
      <p:ext uri="{BB962C8B-B14F-4D97-AF65-F5344CB8AC3E}">
        <p14:creationId xmlns:p14="http://schemas.microsoft.com/office/powerpoint/2010/main" val="86255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2830" y="476672"/>
            <a:ext cx="82751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Step 4: Normalize </a:t>
            </a:r>
            <a:r>
              <a:rPr lang="en-IN" sz="1600" b="1" dirty="0" smtClean="0"/>
              <a:t>similarity</a:t>
            </a:r>
          </a:p>
          <a:p>
            <a:endParaRPr lang="en-IN" sz="1400" b="1" dirty="0"/>
          </a:p>
          <a:p>
            <a:r>
              <a:rPr lang="en-IN" sz="1400" dirty="0" err="1">
                <a:solidFill>
                  <a:srgbClr val="00421E"/>
                </a:solidFill>
              </a:rPr>
              <a:t>np.abs</a:t>
            </a:r>
            <a:r>
              <a:rPr lang="en-IN" sz="1400" dirty="0">
                <a:solidFill>
                  <a:srgbClr val="00421E"/>
                </a:solidFill>
              </a:rPr>
              <a:t>(similarity).sum(axis=1)[:, </a:t>
            </a:r>
            <a:r>
              <a:rPr lang="en-IN" sz="1400" dirty="0" err="1">
                <a:solidFill>
                  <a:srgbClr val="00421E"/>
                </a:solidFill>
              </a:rPr>
              <a:t>np.newaxis</a:t>
            </a:r>
            <a:r>
              <a:rPr lang="en-IN" sz="1400" dirty="0" smtClean="0">
                <a:solidFill>
                  <a:srgbClr val="00421E"/>
                </a:solidFill>
              </a:rPr>
              <a:t>]</a:t>
            </a:r>
          </a:p>
          <a:p>
            <a:endParaRPr lang="en-IN" sz="14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Sums similarity values for each user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Uses absolute values to avoid negative cancellation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Ensures predictions are properly scaled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71803" y="2564904"/>
            <a:ext cx="827510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Step 5: Final </a:t>
            </a:r>
            <a:r>
              <a:rPr lang="en-IN" sz="1600" b="1" dirty="0" smtClean="0"/>
              <a:t>prediction</a:t>
            </a:r>
          </a:p>
          <a:p>
            <a:endParaRPr lang="en-IN" sz="1400" b="1" dirty="0"/>
          </a:p>
          <a:p>
            <a:r>
              <a:rPr lang="en-IN" sz="1400" dirty="0" err="1">
                <a:solidFill>
                  <a:srgbClr val="00421E"/>
                </a:solidFill>
              </a:rPr>
              <a:t>pred</a:t>
            </a:r>
            <a:r>
              <a:rPr lang="en-IN" sz="1400" dirty="0">
                <a:solidFill>
                  <a:srgbClr val="00421E"/>
                </a:solidFill>
              </a:rPr>
              <a:t> = </a:t>
            </a:r>
            <a:r>
              <a:rPr lang="en-IN" sz="1400" dirty="0" err="1">
                <a:solidFill>
                  <a:srgbClr val="00421E"/>
                </a:solidFill>
              </a:rPr>
              <a:t>mean_user_rating</a:t>
            </a:r>
            <a:r>
              <a:rPr lang="en-IN" sz="1400" dirty="0">
                <a:solidFill>
                  <a:srgbClr val="00421E"/>
                </a:solidFill>
              </a:rPr>
              <a:t>[:, </a:t>
            </a:r>
            <a:r>
              <a:rPr lang="en-IN" sz="1400" dirty="0" err="1">
                <a:solidFill>
                  <a:srgbClr val="00421E"/>
                </a:solidFill>
              </a:rPr>
              <a:t>np.newaxis</a:t>
            </a:r>
            <a:r>
              <a:rPr lang="en-IN" sz="1400" dirty="0">
                <a:solidFill>
                  <a:srgbClr val="00421E"/>
                </a:solidFill>
              </a:rPr>
              <a:t>] + similarity.dot(</a:t>
            </a:r>
            <a:r>
              <a:rPr lang="en-IN" sz="1400" dirty="0" err="1">
                <a:solidFill>
                  <a:srgbClr val="00421E"/>
                </a:solidFill>
              </a:rPr>
              <a:t>ratings_diff</a:t>
            </a:r>
            <a:r>
              <a:rPr lang="en-IN" sz="1400" dirty="0">
                <a:solidFill>
                  <a:srgbClr val="00421E"/>
                </a:solidFill>
              </a:rPr>
              <a:t>) / </a:t>
            </a:r>
            <a:r>
              <a:rPr lang="en-IN" sz="1400" dirty="0" err="1" smtClean="0">
                <a:solidFill>
                  <a:srgbClr val="00421E"/>
                </a:solidFill>
              </a:rPr>
              <a:t>np.abs</a:t>
            </a:r>
            <a:r>
              <a:rPr lang="en-IN" sz="1400" dirty="0" smtClean="0">
                <a:solidFill>
                  <a:srgbClr val="00421E"/>
                </a:solidFill>
              </a:rPr>
              <a:t>(similarity</a:t>
            </a:r>
            <a:r>
              <a:rPr lang="en-IN" sz="1400" dirty="0">
                <a:solidFill>
                  <a:srgbClr val="00421E"/>
                </a:solidFill>
              </a:rPr>
              <a:t>).sum(axis=1)[:, </a:t>
            </a:r>
            <a:r>
              <a:rPr lang="en-IN" sz="1400" dirty="0" err="1">
                <a:solidFill>
                  <a:srgbClr val="00421E"/>
                </a:solidFill>
              </a:rPr>
              <a:t>np.newaxis</a:t>
            </a:r>
            <a:r>
              <a:rPr lang="en-IN" sz="1400" dirty="0" smtClean="0">
                <a:solidFill>
                  <a:srgbClr val="00421E"/>
                </a:solidFill>
              </a:rPr>
              <a:t>]</a:t>
            </a:r>
          </a:p>
          <a:p>
            <a:endParaRPr lang="en-IN" sz="14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Adds back the user’s average rating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Final output = adjusted prediction + user bias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400" dirty="0"/>
              <a:t>Gives predicted ratings for all items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355" y="4725144"/>
            <a:ext cx="82751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Step 6: Item-based </a:t>
            </a:r>
            <a:r>
              <a:rPr lang="en-US" sz="1600" b="1" dirty="0" smtClean="0"/>
              <a:t> prediction</a:t>
            </a:r>
            <a:endParaRPr lang="en-US" sz="1600" b="1" dirty="0" smtClean="0"/>
          </a:p>
          <a:p>
            <a:endParaRPr lang="en-US" sz="1400" b="1" dirty="0" smtClean="0"/>
          </a:p>
          <a:p>
            <a:r>
              <a:rPr lang="en-US" sz="1400" dirty="0" err="1" smtClean="0">
                <a:solidFill>
                  <a:srgbClr val="00421E"/>
                </a:solidFill>
              </a:rPr>
              <a:t>pred</a:t>
            </a:r>
            <a:r>
              <a:rPr lang="en-US" sz="1400" dirty="0" smtClean="0">
                <a:solidFill>
                  <a:srgbClr val="00421E"/>
                </a:solidFill>
              </a:rPr>
              <a:t> </a:t>
            </a:r>
            <a:r>
              <a:rPr lang="en-US" sz="1400" dirty="0">
                <a:solidFill>
                  <a:srgbClr val="00421E"/>
                </a:solidFill>
              </a:rPr>
              <a:t>= ratings.dot(similarity) / </a:t>
            </a:r>
            <a:r>
              <a:rPr lang="en-US" sz="1400" dirty="0" err="1">
                <a:solidFill>
                  <a:srgbClr val="00421E"/>
                </a:solidFill>
              </a:rPr>
              <a:t>np.array</a:t>
            </a:r>
            <a:r>
              <a:rPr lang="en-US" sz="1400" dirty="0">
                <a:solidFill>
                  <a:srgbClr val="00421E"/>
                </a:solidFill>
              </a:rPr>
              <a:t>([</a:t>
            </a:r>
            <a:r>
              <a:rPr lang="en-US" sz="1400" dirty="0" err="1">
                <a:solidFill>
                  <a:srgbClr val="00421E"/>
                </a:solidFill>
              </a:rPr>
              <a:t>np.abs</a:t>
            </a:r>
            <a:r>
              <a:rPr lang="en-US" sz="1400" dirty="0">
                <a:solidFill>
                  <a:srgbClr val="00421E"/>
                </a:solidFill>
              </a:rPr>
              <a:t>(similarity).sum(axis=1</a:t>
            </a:r>
            <a:r>
              <a:rPr lang="en-US" sz="1400" dirty="0" smtClean="0">
                <a:solidFill>
                  <a:srgbClr val="00421E"/>
                </a:solidFill>
              </a:rPr>
              <a:t>)])</a:t>
            </a:r>
          </a:p>
          <a:p>
            <a:endParaRPr lang="en-US" sz="14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Multiplies ratings with item similarity matrix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Uses ratings of similar items to predict new ones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Divides by total similarity to normalize values</a:t>
            </a:r>
          </a:p>
        </p:txBody>
      </p:sp>
    </p:spTree>
    <p:extLst>
      <p:ext uri="{BB962C8B-B14F-4D97-AF65-F5344CB8AC3E}">
        <p14:creationId xmlns:p14="http://schemas.microsoft.com/office/powerpoint/2010/main" val="24609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2404</TotalTime>
  <Words>238</Words>
  <Application>Microsoft Office PowerPoint</Application>
  <PresentationFormat>On-screen Show (4:3)</PresentationFormat>
  <Paragraphs>47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Essential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50</cp:revision>
  <dcterms:created xsi:type="dcterms:W3CDTF">2026-01-12T09:38:17Z</dcterms:created>
  <dcterms:modified xsi:type="dcterms:W3CDTF">2026-04-10T06:55:16Z</dcterms:modified>
</cp:coreProperties>
</file>